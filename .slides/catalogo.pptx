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del catálogo: 3553 SKUs, octubre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JSON publicado por master-data alimenta las apps: mismo precio y misma familia en cada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hacen previsible al archivo. Las próximas láminas muestran cómo se aplican.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fuente manda solo en lo suyo: si un dato está mal, se corrige en su fuente y el JSON se regenera completo en cada corrida. El catálogo se regenera completo en cada corrida.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está publicada en el metadata del propio JSON: cualquier consumidor puede verificar por qué un SKU está ahí, sin leer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gates no son revisión manual: frenan solos. Si el universo de stock cae 15% contra la corrida anterior, la subida no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del universo de stock incluida; los SKUs sin código de jerarquía quedan vacíos y contados, nunca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nunca fusiona por parecido ni sugiere similares: o el código existe o el campo queda vacío. 016763 y 16763 son dos artículos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pregunta por qué un SKU no está, la respuesta está en el JSON: exclusiones con motivo, cobertura publicada y faltantes en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de m³ ya está escrito y probado; solo faltan las medidas físicas en el archivo de la guía. La plantilla de precios ya se lee como informativa.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catálogo no se audita con fe: cada corrida deja números, exclusiones y prueba en verde. Con una sola fuente, la decisión de negocio se apoya en datos que coinciden en todas las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rule-accent"/>
          <p:cNvSpPr/>
          <p:nvPr/>
        </p:nvSpPr>
        <p:spPr>
          <a:xfrm>
            <a:off x="609905" y="1600200"/>
            <a:ext cx="155448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</p:sp>
      <p:sp>
        <p:nvSpPr>
          <p:cNvPr id="3" name="slides-lead:Title"/>
          <p:cNvSpPr/>
          <p:nvPr/>
        </p:nvSpPr>
        <p:spPr>
          <a:xfrm>
            <a:off x="609905" y="1965960"/>
            <a:ext cx="9692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Catálogo de productos CIPSA</a:t>
            </a:r>
            <a:endParaRPr lang="en-US" sz="6000" dirty="0"/>
          </a:p>
        </p:txBody>
      </p:sp>
      <p:sp>
        <p:nvSpPr>
          <p:cNvPr id="4" name="slides-field:Subtitle"/>
          <p:cNvSpPr/>
          <p:nvPr/>
        </p:nvSpPr>
        <p:spPr>
          <a:xfrm>
            <a:off x="609905" y="45262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Diseño, puertas y números: por qué las apps venden datos correctos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Todas las apps leen el mismo archivo</a:t>
            </a:r>
            <a:endParaRPr lang="en-US" sz="4000" dirty="0"/>
          </a:p>
        </p:txBody>
      </p:sp>
      <p:sp>
        <p:nvSpPr>
          <p:cNvPr id="3" name="deco-app-card-1"/>
          <p:cNvSpPr/>
          <p:nvPr/>
        </p:nvSpPr>
        <p:spPr>
          <a:xfrm>
            <a:off x="609905" y="1920240"/>
            <a:ext cx="2537231" cy="2651760"/>
          </a:xfrm>
          <a:prstGeom prst="roundRect">
            <a:avLst>
              <a:gd name="adj" fmla="val 3604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eco-app-dot-1"/>
          <p:cNvSpPr/>
          <p:nvPr/>
        </p:nvSpPr>
        <p:spPr>
          <a:xfrm>
            <a:off x="884225" y="2249424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lides-field:Body"/>
          <p:cNvSpPr/>
          <p:nvPr/>
        </p:nvSpPr>
        <p:spPr>
          <a:xfrm>
            <a:off x="1176833" y="2139696"/>
            <a:ext cx="1714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 pedidos</a:t>
            </a:r>
            <a:endParaRPr lang="en-US" sz="2400" dirty="0"/>
          </a:p>
        </p:txBody>
      </p:sp>
      <p:sp>
        <p:nvSpPr>
          <p:cNvPr id="6" name="deco-feed-line-1"/>
          <p:cNvSpPr/>
          <p:nvPr/>
        </p:nvSpPr>
        <p:spPr>
          <a:xfrm>
            <a:off x="1878521" y="4572000"/>
            <a:ext cx="0" cy="548640"/>
          </a:xfrm>
          <a:prstGeom prst="line">
            <a:avLst/>
          </a:prstGeom>
          <a:noFill/>
          <a:ln w="1905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7" name="deco-app-card-2"/>
          <p:cNvSpPr/>
          <p:nvPr/>
        </p:nvSpPr>
        <p:spPr>
          <a:xfrm>
            <a:off x="3421456" y="1920240"/>
            <a:ext cx="2537231" cy="2651760"/>
          </a:xfrm>
          <a:prstGeom prst="roundRect">
            <a:avLst>
              <a:gd name="adj" fmla="val 3604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eco-app-dot-2"/>
          <p:cNvSpPr/>
          <p:nvPr/>
        </p:nvSpPr>
        <p:spPr>
          <a:xfrm>
            <a:off x="3695776" y="2249424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lides-field:Body"/>
          <p:cNvSpPr/>
          <p:nvPr/>
        </p:nvSpPr>
        <p:spPr>
          <a:xfrm>
            <a:off x="3988384" y="2139696"/>
            <a:ext cx="1714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y almacén</a:t>
            </a:r>
            <a:endParaRPr lang="en-US" sz="2400" dirty="0"/>
          </a:p>
        </p:txBody>
      </p:sp>
      <p:sp>
        <p:nvSpPr>
          <p:cNvPr id="10" name="deco-feed-line-2"/>
          <p:cNvSpPr/>
          <p:nvPr/>
        </p:nvSpPr>
        <p:spPr>
          <a:xfrm>
            <a:off x="4690072" y="4572000"/>
            <a:ext cx="0" cy="548640"/>
          </a:xfrm>
          <a:prstGeom prst="line">
            <a:avLst/>
          </a:prstGeom>
          <a:noFill/>
          <a:ln w="1905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1" name="deco-app-card-3"/>
          <p:cNvSpPr/>
          <p:nvPr/>
        </p:nvSpPr>
        <p:spPr>
          <a:xfrm>
            <a:off x="6233008" y="1920240"/>
            <a:ext cx="2537231" cy="2651760"/>
          </a:xfrm>
          <a:prstGeom prst="roundRect">
            <a:avLst>
              <a:gd name="adj" fmla="val 3604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eco-app-dot-3"/>
          <p:cNvSpPr/>
          <p:nvPr/>
        </p:nvSpPr>
        <p:spPr>
          <a:xfrm>
            <a:off x="6507328" y="2249424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lides-field:Body"/>
          <p:cNvSpPr/>
          <p:nvPr/>
        </p:nvSpPr>
        <p:spPr>
          <a:xfrm>
            <a:off x="6799936" y="2139696"/>
            <a:ext cx="1714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Precios y auditoría</a:t>
            </a:r>
            <a:endParaRPr lang="en-US" sz="2400" dirty="0"/>
          </a:p>
        </p:txBody>
      </p:sp>
      <p:sp>
        <p:nvSpPr>
          <p:cNvPr id="14" name="deco-feed-line-3"/>
          <p:cNvSpPr/>
          <p:nvPr/>
        </p:nvSpPr>
        <p:spPr>
          <a:xfrm>
            <a:off x="7501623" y="4572000"/>
            <a:ext cx="0" cy="548640"/>
          </a:xfrm>
          <a:prstGeom prst="line">
            <a:avLst/>
          </a:prstGeom>
          <a:noFill/>
          <a:ln w="1905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5" name="deco-app-card-4"/>
          <p:cNvSpPr/>
          <p:nvPr/>
        </p:nvSpPr>
        <p:spPr>
          <a:xfrm>
            <a:off x="9044559" y="1920240"/>
            <a:ext cx="2537231" cy="2651760"/>
          </a:xfrm>
          <a:prstGeom prst="roundRect">
            <a:avLst>
              <a:gd name="adj" fmla="val 3604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eco-app-dot-4"/>
          <p:cNvSpPr/>
          <p:nvPr/>
        </p:nvSpPr>
        <p:spPr>
          <a:xfrm>
            <a:off x="9318879" y="2249424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lides-field:Body"/>
          <p:cNvSpPr/>
          <p:nvPr/>
        </p:nvSpPr>
        <p:spPr>
          <a:xfrm>
            <a:off x="9611487" y="2139696"/>
            <a:ext cx="1714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 gerenciales</a:t>
            </a:r>
            <a:endParaRPr lang="en-US" sz="2400" dirty="0"/>
          </a:p>
        </p:txBody>
      </p:sp>
      <p:sp>
        <p:nvSpPr>
          <p:cNvPr id="18" name="deco-feed-line-4"/>
          <p:cNvSpPr/>
          <p:nvPr/>
        </p:nvSpPr>
        <p:spPr>
          <a:xfrm>
            <a:off x="10313175" y="4572000"/>
            <a:ext cx="0" cy="548640"/>
          </a:xfrm>
          <a:prstGeom prst="line">
            <a:avLst/>
          </a:prstGeom>
          <a:noFill/>
          <a:ln w="1905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9" name="deco-file-chip"/>
          <p:cNvSpPr/>
          <p:nvPr/>
        </p:nvSpPr>
        <p:spPr>
          <a:xfrm>
            <a:off x="2255368" y="525780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lides-field:Body"/>
          <p:cNvSpPr/>
          <p:nvPr/>
        </p:nvSpPr>
        <p:spPr>
          <a:xfrm>
            <a:off x="2255368" y="52578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output/catalogo_productos.json  ·  3553 SKUs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 reglas, el mismo producto tiene dos precios</a:t>
            </a:r>
            <a:endParaRPr lang="en-US" sz="4000" dirty="0"/>
          </a:p>
        </p:txBody>
      </p:sp>
      <p:sp>
        <p:nvSpPr>
          <p:cNvPr id="3" name="deco-panel-sin-fuente"/>
          <p:cNvSpPr/>
          <p:nvPr/>
        </p:nvSpPr>
        <p:spPr>
          <a:xfrm>
            <a:off x="609905" y="1828800"/>
            <a:ext cx="5234483" cy="4114800"/>
          </a:xfrm>
          <a:prstGeom prst="roundRect">
            <a:avLst>
              <a:gd name="adj" fmla="val 2222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eco-conflict-dot"/>
          <p:cNvSpPr/>
          <p:nvPr/>
        </p:nvSpPr>
        <p:spPr>
          <a:xfrm>
            <a:off x="1021385" y="2304288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deco-conflict-label"/>
          <p:cNvSpPr/>
          <p:nvPr/>
        </p:nvSpPr>
        <p:spPr>
          <a:xfrm>
            <a:off x="1295705" y="2194560"/>
            <a:ext cx="44115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conflicto</a:t>
            </a:r>
            <a:endParaRPr lang="en-US" sz="1600" dirty="0"/>
          </a:p>
        </p:txBody>
      </p:sp>
      <p:sp>
        <p:nvSpPr>
          <p:cNvPr id="6" name="slides-field:Left"/>
          <p:cNvSpPr/>
          <p:nvPr/>
        </p:nvSpPr>
        <p:spPr>
          <a:xfrm>
            <a:off x="1021385" y="2743200"/>
            <a:ext cx="441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 fuente única</a:t>
            </a:r>
            <a:endParaRPr lang="en-US" sz="2400" dirty="0"/>
          </a:p>
        </p:txBody>
      </p:sp>
      <p:sp>
        <p:nvSpPr>
          <p:cNvPr id="7" name="slides-field:Body"/>
          <p:cNvSpPr/>
          <p:nvPr/>
        </p:nvSpPr>
        <p:spPr>
          <a:xfrm>
            <a:off x="1021385" y="3474720"/>
            <a:ext cx="441152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apps responden distinto para el mismo SKU; nadie sabe cuál es el correcto</a:t>
            </a:r>
            <a:endParaRPr lang="en-US" sz="2400" dirty="0"/>
          </a:p>
        </p:txBody>
      </p:sp>
      <p:sp>
        <p:nvSpPr>
          <p:cNvPr id="8" name="deco-panel-catalogo"/>
          <p:cNvSpPr/>
          <p:nvPr/>
        </p:nvSpPr>
        <p:spPr>
          <a:xfrm>
            <a:off x="6347308" y="1828800"/>
            <a:ext cx="5234483" cy="411480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lides-field:Right"/>
          <p:cNvSpPr/>
          <p:nvPr/>
        </p:nvSpPr>
        <p:spPr>
          <a:xfrm>
            <a:off x="6758788" y="2743200"/>
            <a:ext cx="44115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 catálogo único</a:t>
            </a:r>
            <a:endParaRPr lang="en-US" sz="2400" dirty="0"/>
          </a:p>
        </p:txBody>
      </p:sp>
      <p:sp>
        <p:nvSpPr>
          <p:cNvPr id="10" name="slides-field:Body"/>
          <p:cNvSpPr/>
          <p:nvPr/>
        </p:nvSpPr>
        <p:spPr>
          <a:xfrm>
            <a:off x="6758788" y="3474720"/>
            <a:ext cx="441152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respuesta por SKU, y lo que no cuadra se frena antes de publicar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dato sale de una fuente con oficio</a:t>
            </a:r>
            <a:endParaRPr lang="en-US" sz="4000" dirty="0"/>
          </a:p>
        </p:txBody>
      </p:sp>
      <p:sp>
        <p:nvSpPr>
          <p:cNvPr id="3" name="deco-chip-ERP"/>
          <p:cNvSpPr/>
          <p:nvPr/>
        </p:nvSpPr>
        <p:spPr>
          <a:xfrm>
            <a:off x="609905" y="173736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deco-chip-label-ERP"/>
          <p:cNvSpPr/>
          <p:nvPr/>
        </p:nvSpPr>
        <p:spPr>
          <a:xfrm>
            <a:off x="609905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ERP</a:t>
            </a:r>
            <a:endParaRPr lang="en-US" sz="1600" dirty="0"/>
          </a:p>
        </p:txBody>
      </p:sp>
      <p:sp>
        <p:nvSpPr>
          <p:cNvPr id="5" name="slides-field:Body"/>
          <p:cNvSpPr/>
          <p:nvPr/>
        </p:nvSpPr>
        <p:spPr>
          <a:xfrm>
            <a:off x="1752905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precio, peso, EAN</a:t>
            </a:r>
            <a:endParaRPr lang="en-US" sz="1600" dirty="0"/>
          </a:p>
        </p:txBody>
      </p:sp>
      <p:sp>
        <p:nvSpPr>
          <p:cNvPr id="6" name="deco-arrow-src-1"/>
          <p:cNvSpPr/>
          <p:nvPr/>
        </p:nvSpPr>
        <p:spPr>
          <a:xfrm>
            <a:off x="4617720" y="1920240"/>
            <a:ext cx="502920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7" name="deco-chip-KARDEX"/>
          <p:cNvSpPr/>
          <p:nvPr/>
        </p:nvSpPr>
        <p:spPr>
          <a:xfrm>
            <a:off x="609905" y="2880360"/>
            <a:ext cx="141732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deco-chip-label-KARDEX"/>
          <p:cNvSpPr/>
          <p:nvPr/>
        </p:nvSpPr>
        <p:spPr>
          <a:xfrm>
            <a:off x="609905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KARDEX</a:t>
            </a:r>
            <a:endParaRPr lang="en-US" sz="1600" dirty="0"/>
          </a:p>
        </p:txBody>
      </p:sp>
      <p:sp>
        <p:nvSpPr>
          <p:cNvPr id="9" name="slides-field:Body"/>
          <p:cNvSpPr/>
          <p:nvPr/>
        </p:nvSpPr>
        <p:spPr>
          <a:xfrm>
            <a:off x="2255825" y="2862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jerarquía y UM</a:t>
            </a:r>
            <a:endParaRPr lang="en-US" sz="1600" dirty="0"/>
          </a:p>
        </p:txBody>
      </p:sp>
      <p:sp>
        <p:nvSpPr>
          <p:cNvPr id="10" name="deco-arrow-src-2"/>
          <p:cNvSpPr/>
          <p:nvPr/>
        </p:nvSpPr>
        <p:spPr>
          <a:xfrm>
            <a:off x="4617720" y="3063240"/>
            <a:ext cx="502920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1" name="deco-chip-SKU_BX"/>
          <p:cNvSpPr/>
          <p:nvPr/>
        </p:nvSpPr>
        <p:spPr>
          <a:xfrm>
            <a:off x="609905" y="402336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deco-chip-label-SKU_BX"/>
          <p:cNvSpPr/>
          <p:nvPr/>
        </p:nvSpPr>
        <p:spPr>
          <a:xfrm>
            <a:off x="609905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SKU_BX</a:t>
            </a:r>
            <a:endParaRPr lang="en-US" sz="1600" dirty="0"/>
          </a:p>
        </p:txBody>
      </p:sp>
      <p:sp>
        <p:nvSpPr>
          <p:cNvPr id="13" name="slides-field:Body"/>
          <p:cNvSpPr/>
          <p:nvPr/>
        </p:nvSpPr>
        <p:spPr>
          <a:xfrm>
            <a:off x="2301545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 y cajas</a:t>
            </a:r>
            <a:endParaRPr lang="en-US" sz="1600" dirty="0"/>
          </a:p>
        </p:txBody>
      </p:sp>
      <p:sp>
        <p:nvSpPr>
          <p:cNvPr id="14" name="deco-arrow-src-3"/>
          <p:cNvSpPr/>
          <p:nvPr/>
        </p:nvSpPr>
        <p:spPr>
          <a:xfrm>
            <a:off x="4617720" y="4206240"/>
            <a:ext cx="502920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5" name="deco-chip-S1"/>
          <p:cNvSpPr/>
          <p:nvPr/>
        </p:nvSpPr>
        <p:spPr>
          <a:xfrm>
            <a:off x="609905" y="5166360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deco-chip-label-S1"/>
          <p:cNvSpPr/>
          <p:nvPr/>
        </p:nvSpPr>
        <p:spPr>
          <a:xfrm>
            <a:off x="609905" y="5166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S1</a:t>
            </a:r>
            <a:endParaRPr lang="en-US" sz="1600" dirty="0"/>
          </a:p>
        </p:txBody>
      </p:sp>
      <p:sp>
        <p:nvSpPr>
          <p:cNvPr id="17" name="slides-field:Body"/>
          <p:cNvSpPr/>
          <p:nvPr/>
        </p:nvSpPr>
        <p:spPr>
          <a:xfrm>
            <a:off x="1707185" y="5148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y compromiso</a:t>
            </a:r>
            <a:endParaRPr lang="en-US" sz="1600" dirty="0"/>
          </a:p>
        </p:txBody>
      </p:sp>
      <p:sp>
        <p:nvSpPr>
          <p:cNvPr id="18" name="deco-arrow-src-4"/>
          <p:cNvSpPr/>
          <p:nvPr/>
        </p:nvSpPr>
        <p:spPr>
          <a:xfrm>
            <a:off x="4617720" y="5349240"/>
            <a:ext cx="502920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9" name="deco-catalogo"/>
          <p:cNvSpPr/>
          <p:nvPr/>
        </p:nvSpPr>
        <p:spPr>
          <a:xfrm>
            <a:off x="5303520" y="1737360"/>
            <a:ext cx="3108960" cy="4297680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lides-field:Body"/>
          <p:cNvSpPr/>
          <p:nvPr/>
        </p:nvSpPr>
        <p:spPr>
          <a:xfrm>
            <a:off x="5394960" y="31089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Catálogo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3553 SKUs con reglas</a:t>
            </a:r>
            <a:endParaRPr lang="en-US" sz="2400" dirty="0"/>
          </a:p>
        </p:txBody>
      </p:sp>
      <p:sp>
        <p:nvSpPr>
          <p:cNvPr id="21" name="deco-arrow-api"/>
          <p:cNvSpPr/>
          <p:nvPr/>
        </p:nvSpPr>
        <p:spPr>
          <a:xfrm>
            <a:off x="8549640" y="3886200"/>
            <a:ext cx="502920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22" name="deco-salida"/>
          <p:cNvSpPr/>
          <p:nvPr/>
        </p:nvSpPr>
        <p:spPr>
          <a:xfrm>
            <a:off x="9189720" y="274320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slides-field:Body"/>
          <p:cNvSpPr/>
          <p:nvPr/>
        </p:nvSpPr>
        <p:spPr>
          <a:xfrm>
            <a:off x="9281160" y="27432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de stock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CIPSA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Nada entra al catálogo sin una razón</a:t>
            </a:r>
            <a:endParaRPr lang="en-US" sz="4000" dirty="0"/>
          </a:p>
        </p:txBody>
      </p:sp>
      <p:sp>
        <p:nvSpPr>
          <p:cNvPr id="3" name="deco-card-1"/>
          <p:cNvSpPr/>
          <p:nvPr/>
        </p:nvSpPr>
        <p:spPr>
          <a:xfrm>
            <a:off x="609905" y="1874520"/>
            <a:ext cx="5257343" cy="1965960"/>
          </a:xfrm>
          <a:prstGeom prst="roundRect">
            <a:avLst>
              <a:gd name="adj" fmla="val 465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eco-chip-SKU_BX"/>
          <p:cNvSpPr/>
          <p:nvPr/>
        </p:nvSpPr>
        <p:spPr>
          <a:xfrm>
            <a:off x="975665" y="2167128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deco-chip-label-SKU_BX"/>
          <p:cNvSpPr/>
          <p:nvPr/>
        </p:nvSpPr>
        <p:spPr>
          <a:xfrm>
            <a:off x="975665" y="2167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SKU_BX</a:t>
            </a:r>
            <a:endParaRPr lang="en-US" sz="1600" dirty="0"/>
          </a:p>
        </p:txBody>
      </p:sp>
      <p:sp>
        <p:nvSpPr>
          <p:cNvPr id="6" name="slides-field:Body"/>
          <p:cNvSpPr/>
          <p:nvPr/>
        </p:nvSpPr>
        <p:spPr>
          <a:xfrm>
            <a:off x="975665" y="2651760"/>
            <a:ext cx="45258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 la guía</a:t>
            </a:r>
            <a:endParaRPr lang="en-US" sz="2400" dirty="0"/>
          </a:p>
        </p:txBody>
      </p:sp>
      <p:sp>
        <p:nvSpPr>
          <p:cNvPr id="7" name="slides-field:Body"/>
          <p:cNvSpPr/>
          <p:nvPr/>
        </p:nvSpPr>
        <p:spPr>
          <a:xfrm>
            <a:off x="975665" y="3154680"/>
            <a:ext cx="45258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se vende y se cura a mano</a:t>
            </a:r>
            <a:endParaRPr lang="en-US" sz="1600" dirty="0"/>
          </a:p>
        </p:txBody>
      </p:sp>
      <p:sp>
        <p:nvSpPr>
          <p:cNvPr id="8" name="deco-card-2"/>
          <p:cNvSpPr/>
          <p:nvPr/>
        </p:nvSpPr>
        <p:spPr>
          <a:xfrm>
            <a:off x="6324448" y="1874520"/>
            <a:ext cx="5257343" cy="1965960"/>
          </a:xfrm>
          <a:prstGeom prst="roundRect">
            <a:avLst>
              <a:gd name="adj" fmla="val 465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eco-chip-S1"/>
          <p:cNvSpPr/>
          <p:nvPr/>
        </p:nvSpPr>
        <p:spPr>
          <a:xfrm>
            <a:off x="6690208" y="2167128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deco-chip-label-S1"/>
          <p:cNvSpPr/>
          <p:nvPr/>
        </p:nvSpPr>
        <p:spPr>
          <a:xfrm>
            <a:off x="6690208" y="2167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S1</a:t>
            </a:r>
            <a:endParaRPr lang="en-US" sz="1600" dirty="0"/>
          </a:p>
        </p:txBody>
      </p:sp>
      <p:sp>
        <p:nvSpPr>
          <p:cNvPr id="11" name="slides-field:Body"/>
          <p:cNvSpPr/>
          <p:nvPr/>
        </p:nvSpPr>
        <p:spPr>
          <a:xfrm>
            <a:off x="6690208" y="2651760"/>
            <a:ext cx="45258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 stock</a:t>
            </a:r>
            <a:endParaRPr lang="en-US" sz="2400" dirty="0"/>
          </a:p>
        </p:txBody>
      </p:sp>
      <p:sp>
        <p:nvSpPr>
          <p:cNvPr id="12" name="slides-field:Body"/>
          <p:cNvSpPr/>
          <p:nvPr/>
        </p:nvSpPr>
        <p:spPr>
          <a:xfrm>
            <a:off x="6690208" y="3154680"/>
            <a:ext cx="45258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menos 1 unidad física en almacén</a:t>
            </a:r>
            <a:endParaRPr lang="en-US" sz="1600" dirty="0"/>
          </a:p>
        </p:txBody>
      </p:sp>
      <p:sp>
        <p:nvSpPr>
          <p:cNvPr id="13" name="deco-card-3"/>
          <p:cNvSpPr/>
          <p:nvPr/>
        </p:nvSpPr>
        <p:spPr>
          <a:xfrm>
            <a:off x="609905" y="4251960"/>
            <a:ext cx="5257343" cy="1965960"/>
          </a:xfrm>
          <a:prstGeom prst="roundRect">
            <a:avLst>
              <a:gd name="adj" fmla="val 4651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eco-chip-S1"/>
          <p:cNvSpPr/>
          <p:nvPr/>
        </p:nvSpPr>
        <p:spPr>
          <a:xfrm>
            <a:off x="975665" y="4544568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deco-chip-label-S1"/>
          <p:cNvSpPr/>
          <p:nvPr/>
        </p:nvSpPr>
        <p:spPr>
          <a:xfrm>
            <a:off x="975665" y="4544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S1</a:t>
            </a:r>
            <a:endParaRPr lang="en-US" sz="1600" dirty="0"/>
          </a:p>
        </p:txBody>
      </p:sp>
      <p:sp>
        <p:nvSpPr>
          <p:cNvPr id="16" name="slides-field:Body"/>
          <p:cNvSpPr/>
          <p:nvPr/>
        </p:nvSpPr>
        <p:spPr>
          <a:xfrm>
            <a:off x="975665" y="5029200"/>
            <a:ext cx="45258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 compromiso</a:t>
            </a:r>
            <a:endParaRPr lang="en-US" sz="2400" dirty="0"/>
          </a:p>
        </p:txBody>
      </p:sp>
      <p:sp>
        <p:nvSpPr>
          <p:cNvPr id="17" name="slides-field:Body"/>
          <p:cNvSpPr/>
          <p:nvPr/>
        </p:nvSpPr>
        <p:spPr>
          <a:xfrm>
            <a:off x="975665" y="5532120"/>
            <a:ext cx="45258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 pendientes de despacho</a:t>
            </a:r>
            <a:endParaRPr lang="en-US" sz="1600" dirty="0"/>
          </a:p>
        </p:txBody>
      </p:sp>
      <p:sp>
        <p:nvSpPr>
          <p:cNvPr id="18" name="deco-card-4"/>
          <p:cNvSpPr/>
          <p:nvPr/>
        </p:nvSpPr>
        <p:spPr>
          <a:xfrm>
            <a:off x="6324448" y="4251960"/>
            <a:ext cx="5257343" cy="1965960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deco-chip-ERP"/>
          <p:cNvSpPr/>
          <p:nvPr/>
        </p:nvSpPr>
        <p:spPr>
          <a:xfrm>
            <a:off x="6690208" y="4544568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0" name="deco-chip-label-ERP"/>
          <p:cNvSpPr/>
          <p:nvPr/>
        </p:nvSpPr>
        <p:spPr>
          <a:xfrm>
            <a:off x="6690208" y="4544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ERP</a:t>
            </a:r>
            <a:endParaRPr lang="en-US" sz="1600" dirty="0"/>
          </a:p>
        </p:txBody>
      </p:sp>
      <p:sp>
        <p:nvSpPr>
          <p:cNvPr id="21" name="slides-field:Body"/>
          <p:cNvSpPr/>
          <p:nvPr/>
        </p:nvSpPr>
        <p:spPr>
          <a:xfrm>
            <a:off x="6690208" y="5029200"/>
            <a:ext cx="45258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Vigente con precio</a:t>
            </a:r>
            <a:endParaRPr lang="en-US" sz="2400" dirty="0"/>
          </a:p>
        </p:txBody>
      </p:sp>
      <p:sp>
        <p:nvSpPr>
          <p:cNvPr id="22" name="slides-field:Body"/>
          <p:cNvSpPr/>
          <p:nvPr/>
        </p:nvSpPr>
        <p:spPr>
          <a:xfrm>
            <a:off x="6690208" y="5532120"/>
            <a:ext cx="452582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en el ERP; lo descontinuado no entra por esta vía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Cinco puertas frenan una publicación errónea</a:t>
            </a:r>
            <a:endParaRPr lang="en-US" sz="4000" dirty="0"/>
          </a:p>
        </p:txBody>
      </p:sp>
      <p:sp>
        <p:nvSpPr>
          <p:cNvPr id="3" name="deco-step-1"/>
          <p:cNvSpPr/>
          <p:nvPr/>
        </p:nvSpPr>
        <p:spPr>
          <a:xfrm>
            <a:off x="609905" y="2103120"/>
            <a:ext cx="1974921" cy="3291840"/>
          </a:xfrm>
          <a:prstGeom prst="roundRect">
            <a:avLst>
              <a:gd name="adj" fmla="val 463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65937" y="2340864"/>
            <a:ext cx="1462857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Paso 0: contratos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Cada fuente se lee por nombre de columna; fuente rota, no se genera</a:t>
            </a:r>
            <a:endParaRPr lang="en-US" sz="1600" dirty="0"/>
          </a:p>
        </p:txBody>
      </p:sp>
      <p:sp>
        <p:nvSpPr>
          <p:cNvPr id="5" name="deco-arrow-step-1"/>
          <p:cNvSpPr/>
          <p:nvPr/>
        </p:nvSpPr>
        <p:spPr>
          <a:xfrm>
            <a:off x="2621402" y="3749040"/>
            <a:ext cx="201168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6" name="deco-step-2"/>
          <p:cNvSpPr/>
          <p:nvPr/>
        </p:nvSpPr>
        <p:spPr>
          <a:xfrm>
            <a:off x="2859146" y="2103120"/>
            <a:ext cx="1974921" cy="3291840"/>
          </a:xfrm>
          <a:prstGeom prst="roundRect">
            <a:avLst>
              <a:gd name="adj" fmla="val 463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lides-field:Body"/>
          <p:cNvSpPr/>
          <p:nvPr/>
        </p:nvSpPr>
        <p:spPr>
          <a:xfrm>
            <a:off x="3115178" y="2340864"/>
            <a:ext cx="1462857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Generación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Reglas de inclusión, SKUs exactos, sin adivinar</a:t>
            </a:r>
            <a:endParaRPr lang="en-US" sz="1600" dirty="0"/>
          </a:p>
        </p:txBody>
      </p:sp>
      <p:sp>
        <p:nvSpPr>
          <p:cNvPr id="8" name="deco-arrow-step-2"/>
          <p:cNvSpPr/>
          <p:nvPr/>
        </p:nvSpPr>
        <p:spPr>
          <a:xfrm>
            <a:off x="4870643" y="3749040"/>
            <a:ext cx="201168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9" name="deco-step-3"/>
          <p:cNvSpPr/>
          <p:nvPr/>
        </p:nvSpPr>
        <p:spPr>
          <a:xfrm>
            <a:off x="5108387" y="2103120"/>
            <a:ext cx="1974921" cy="3291840"/>
          </a:xfrm>
          <a:prstGeom prst="roundRect">
            <a:avLst>
              <a:gd name="adj" fmla="val 463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lides-field:Body"/>
          <p:cNvSpPr/>
          <p:nvPr/>
        </p:nvSpPr>
        <p:spPr>
          <a:xfrm>
            <a:off x="5364419" y="2340864"/>
            <a:ext cx="1462857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Taxonomía cruzada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master-data y stock-api clasifican igual cada línea</a:t>
            </a:r>
            <a:endParaRPr lang="en-US" sz="1600" dirty="0"/>
          </a:p>
        </p:txBody>
      </p:sp>
      <p:sp>
        <p:nvSpPr>
          <p:cNvPr id="11" name="deco-arrow-step-3"/>
          <p:cNvSpPr/>
          <p:nvPr/>
        </p:nvSpPr>
        <p:spPr>
          <a:xfrm>
            <a:off x="7119884" y="3749040"/>
            <a:ext cx="201168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2" name="deco-step-4"/>
          <p:cNvSpPr/>
          <p:nvPr/>
        </p:nvSpPr>
        <p:spPr>
          <a:xfrm>
            <a:off x="7357628" y="2103120"/>
            <a:ext cx="1974921" cy="3291840"/>
          </a:xfrm>
          <a:prstGeom prst="roundRect">
            <a:avLst>
              <a:gd name="adj" fmla="val 4630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lides-field:Body"/>
          <p:cNvSpPr/>
          <p:nvPr/>
        </p:nvSpPr>
        <p:spPr>
          <a:xfrm>
            <a:off x="7613660" y="2340864"/>
            <a:ext cx="1462857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212 pruebas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Regresión automática antes de cualquier subida</a:t>
            </a:r>
            <a:endParaRPr lang="en-US" sz="1600" dirty="0"/>
          </a:p>
        </p:txBody>
      </p:sp>
      <p:sp>
        <p:nvSpPr>
          <p:cNvPr id="14" name="deco-arrow-step-4"/>
          <p:cNvSpPr/>
          <p:nvPr/>
        </p:nvSpPr>
        <p:spPr>
          <a:xfrm>
            <a:off x="9369125" y="3749040"/>
            <a:ext cx="201168" cy="0"/>
          </a:xfrm>
          <a:prstGeom prst="line">
            <a:avLst/>
          </a:prstGeom>
          <a:noFill/>
          <a:ln w="22225">
            <a:solidFill>
              <a:srgbClr val="000000">
                <a:alpha val="45000"/>
              </a:srgbClr>
            </a:solidFill>
            <a:prstDash val="solid"/>
            <a:tailEnd type="triangle"/>
          </a:ln>
        </p:spPr>
      </p:sp>
      <p:sp>
        <p:nvSpPr>
          <p:cNvPr id="15" name="deco-step-5"/>
          <p:cNvSpPr/>
          <p:nvPr/>
        </p:nvSpPr>
        <p:spPr>
          <a:xfrm>
            <a:off x="9606869" y="2103120"/>
            <a:ext cx="1974921" cy="329184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28575">
            <a:solidFill>
              <a:srgbClr val="0F172A"/>
            </a:solidFill>
            <a:prstDash val="solid"/>
          </a:ln>
        </p:spPr>
      </p:sp>
      <p:sp>
        <p:nvSpPr>
          <p:cNvPr id="16" name="slides-field:Body"/>
          <p:cNvSpPr/>
          <p:nvPr/>
        </p:nvSpPr>
        <p:spPr>
          <a:xfrm>
            <a:off x="9862901" y="2340864"/>
            <a:ext cx="1462857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6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Upload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Solo si todo quedó en verde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fiel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3553 productos publicados y verificados</a:t>
            </a:r>
            <a:endParaRPr lang="en-US" sz="4000" dirty="0"/>
          </a:p>
        </p:txBody>
      </p:sp>
      <p:sp>
        <p:nvSpPr>
          <p:cNvPr id="3" name="slides-lead"/>
          <p:cNvSpPr/>
          <p:nvPr/>
        </p:nvSpPr>
        <p:spPr>
          <a:xfrm>
            <a:off x="884225" y="2468880"/>
            <a:ext cx="22857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2265</a:t>
            </a:r>
            <a:endParaRPr lang="en-US" sz="6000" dirty="0"/>
          </a:p>
        </p:txBody>
      </p:sp>
      <p:sp>
        <p:nvSpPr>
          <p:cNvPr id="4" name="slides-field:Body"/>
          <p:cNvSpPr/>
          <p:nvPr/>
        </p:nvSpPr>
        <p:spPr>
          <a:xfrm>
            <a:off x="884225" y="3749040"/>
            <a:ext cx="21943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SKUs con stock o compromiso</a:t>
            </a:r>
            <a:endParaRPr lang="en-US" sz="1600" dirty="0"/>
          </a:p>
        </p:txBody>
      </p:sp>
      <p:sp>
        <p:nvSpPr>
          <p:cNvPr id="5" name="deco-stat-rule-1"/>
          <p:cNvSpPr/>
          <p:nvPr/>
        </p:nvSpPr>
        <p:spPr>
          <a:xfrm>
            <a:off x="3352876" y="2377440"/>
            <a:ext cx="0" cy="2194560"/>
          </a:xfrm>
          <a:prstGeom prst="line">
            <a:avLst/>
          </a:prstGeom>
          <a:noFill/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" name="slides-field:Body"/>
          <p:cNvSpPr/>
          <p:nvPr/>
        </p:nvSpPr>
        <p:spPr>
          <a:xfrm>
            <a:off x="3627196" y="2468880"/>
            <a:ext cx="22857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99.8%</a:t>
            </a:r>
            <a:endParaRPr lang="en-US" sz="4000" dirty="0"/>
          </a:p>
        </p:txBody>
      </p:sp>
      <p:sp>
        <p:nvSpPr>
          <p:cNvPr id="7" name="slides-field:Body"/>
          <p:cNvSpPr/>
          <p:nvPr/>
        </p:nvSpPr>
        <p:spPr>
          <a:xfrm>
            <a:off x="3627196" y="3749040"/>
            <a:ext cx="21943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Jerarquía con código de 2 chars</a:t>
            </a:r>
            <a:endParaRPr lang="en-US" sz="1600" dirty="0"/>
          </a:p>
        </p:txBody>
      </p:sp>
      <p:sp>
        <p:nvSpPr>
          <p:cNvPr id="8" name="deco-stat-rule-2"/>
          <p:cNvSpPr/>
          <p:nvPr/>
        </p:nvSpPr>
        <p:spPr>
          <a:xfrm>
            <a:off x="6095848" y="2377440"/>
            <a:ext cx="0" cy="2194560"/>
          </a:xfrm>
          <a:prstGeom prst="line">
            <a:avLst/>
          </a:prstGeom>
          <a:noFill/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9" name="slides-field:Body"/>
          <p:cNvSpPr/>
          <p:nvPr/>
        </p:nvSpPr>
        <p:spPr>
          <a:xfrm>
            <a:off x="6370168" y="2468880"/>
            <a:ext cx="22857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slides-field:Body"/>
          <p:cNvSpPr/>
          <p:nvPr/>
        </p:nvSpPr>
        <p:spPr>
          <a:xfrm>
            <a:off x="6370168" y="3749040"/>
            <a:ext cx="21943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Líneas con categorías mixtas</a:t>
            </a:r>
            <a:endParaRPr lang="en-US" sz="1600" dirty="0"/>
          </a:p>
        </p:txBody>
      </p:sp>
      <p:sp>
        <p:nvSpPr>
          <p:cNvPr id="11" name="deco-stat-rule-3"/>
          <p:cNvSpPr/>
          <p:nvPr/>
        </p:nvSpPr>
        <p:spPr>
          <a:xfrm>
            <a:off x="8838819" y="2377440"/>
            <a:ext cx="0" cy="2194560"/>
          </a:xfrm>
          <a:prstGeom prst="line">
            <a:avLst/>
          </a:prstGeom>
          <a:noFill/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2" name="slides-field:Body"/>
          <p:cNvSpPr/>
          <p:nvPr/>
        </p:nvSpPr>
        <p:spPr>
          <a:xfrm>
            <a:off x="9113139" y="2468880"/>
            <a:ext cx="22857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212</a:t>
            </a:r>
            <a:endParaRPr lang="en-US" sz="4000" dirty="0"/>
          </a:p>
        </p:txBody>
      </p:sp>
      <p:sp>
        <p:nvSpPr>
          <p:cNvPr id="13" name="slides-field:Body"/>
          <p:cNvSpPr/>
          <p:nvPr/>
        </p:nvSpPr>
        <p:spPr>
          <a:xfrm>
            <a:off x="9113139" y="3749040"/>
            <a:ext cx="21943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automáticas en verde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Parecido no es igual: 03077 y 03077D</a:t>
            </a:r>
            <a:endParaRPr lang="en-US" sz="4000" dirty="0"/>
          </a:p>
        </p:txBody>
      </p:sp>
      <p:sp>
        <p:nvSpPr>
          <p:cNvPr id="3" name="deco-ficha-03077"/>
          <p:cNvSpPr/>
          <p:nvPr/>
        </p:nvSpPr>
        <p:spPr>
          <a:xfrm>
            <a:off x="609905" y="1828800"/>
            <a:ext cx="5234483" cy="4114800"/>
          </a:xfrm>
          <a:prstGeom prst="roundRect">
            <a:avLst>
              <a:gd name="adj" fmla="val 2222"/>
            </a:avLst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eco-chip-ERP"/>
          <p:cNvSpPr/>
          <p:nvPr/>
        </p:nvSpPr>
        <p:spPr>
          <a:xfrm>
            <a:off x="1021385" y="219456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deco-chip-label-ERP"/>
          <p:cNvSpPr/>
          <p:nvPr/>
        </p:nvSpPr>
        <p:spPr>
          <a:xfrm>
            <a:off x="1021385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ERP</a:t>
            </a:r>
            <a:endParaRPr lang="en-US" sz="1600" dirty="0"/>
          </a:p>
        </p:txBody>
      </p:sp>
      <p:sp>
        <p:nvSpPr>
          <p:cNvPr id="6" name="slides-field:Left"/>
          <p:cNvSpPr/>
          <p:nvPr/>
        </p:nvSpPr>
        <p:spPr>
          <a:xfrm>
            <a:off x="1021385" y="2743200"/>
            <a:ext cx="4411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03077</a:t>
            </a:r>
            <a:endParaRPr lang="en-US" sz="2400" dirty="0"/>
          </a:p>
        </p:txBody>
      </p:sp>
      <p:sp>
        <p:nvSpPr>
          <p:cNvPr id="7" name="slides-field:Body"/>
          <p:cNvSpPr/>
          <p:nvPr/>
        </p:nvSpPr>
        <p:spPr>
          <a:xfrm>
            <a:off x="1021385" y="3703320"/>
            <a:ext cx="44115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 78 · ARCHIVO</a:t>
            </a:r>
            <a:endParaRPr lang="en-US" sz="1600" dirty="0"/>
          </a:p>
        </p:txBody>
      </p:sp>
      <p:sp>
        <p:nvSpPr>
          <p:cNvPr id="8" name="slides-field:Body"/>
          <p:cNvSpPr/>
          <p:nvPr/>
        </p:nvSpPr>
        <p:spPr>
          <a:xfrm>
            <a:off x="1021385" y="4251960"/>
            <a:ext cx="441152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Fólder con precio S/ 4.17: se publica y se cotiza</a:t>
            </a:r>
            <a:endParaRPr lang="en-US" sz="2400" dirty="0"/>
          </a:p>
        </p:txBody>
      </p:sp>
      <p:sp>
        <p:nvSpPr>
          <p:cNvPr id="9" name="deco-ficha-03077d"/>
          <p:cNvSpPr/>
          <p:nvPr/>
        </p:nvSpPr>
        <p:spPr>
          <a:xfrm>
            <a:off x="6347308" y="1828800"/>
            <a:ext cx="5234483" cy="411480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deco-chip-S1"/>
          <p:cNvSpPr/>
          <p:nvPr/>
        </p:nvSpPr>
        <p:spPr>
          <a:xfrm>
            <a:off x="6758788" y="2194560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" name="deco-chip-label-S1"/>
          <p:cNvSpPr/>
          <p:nvPr/>
        </p:nvSpPr>
        <p:spPr>
          <a:xfrm>
            <a:off x="6758788" y="2194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S1</a:t>
            </a:r>
            <a:endParaRPr lang="en-US" sz="1600" dirty="0"/>
          </a:p>
        </p:txBody>
      </p:sp>
      <p:sp>
        <p:nvSpPr>
          <p:cNvPr id="12" name="slides-field:Right"/>
          <p:cNvSpPr/>
          <p:nvPr/>
        </p:nvSpPr>
        <p:spPr>
          <a:xfrm>
            <a:off x="6758788" y="2743200"/>
            <a:ext cx="44115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03077D</a:t>
            </a:r>
            <a:endParaRPr lang="en-US" sz="2400" dirty="0"/>
          </a:p>
        </p:txBody>
      </p:sp>
      <p:sp>
        <p:nvSpPr>
          <p:cNvPr id="13" name="slides-field:Body"/>
          <p:cNvSpPr/>
          <p:nvPr/>
        </p:nvSpPr>
        <p:spPr>
          <a:xfrm>
            <a:off x="6758788" y="3703320"/>
            <a:ext cx="44115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 98 · SIN EMBALAJE</a:t>
            </a:r>
            <a:endParaRPr lang="en-US" sz="1600" dirty="0"/>
          </a:p>
        </p:txBody>
      </p:sp>
      <p:sp>
        <p:nvSpPr>
          <p:cNvPr id="14" name="slides-field:Body"/>
          <p:cNvSpPr/>
          <p:nvPr/>
        </p:nvSpPr>
        <p:spPr>
          <a:xfrm>
            <a:off x="6758788" y="4251960"/>
            <a:ext cx="441152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 cara visual, sin precio: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 como lo que es,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marcado por_activar, no cotiza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Todo lo que se publicó queda registrado</a:t>
            </a:r>
            <a:endParaRPr lang="en-US" sz="4000" dirty="0"/>
          </a:p>
        </p:txBody>
      </p:sp>
      <p:sp>
        <p:nvSpPr>
          <p:cNvPr id="3" name="deco-table-head"/>
          <p:cNvSpPr/>
          <p:nvPr/>
        </p:nvSpPr>
        <p:spPr>
          <a:xfrm>
            <a:off x="609905" y="1783080"/>
            <a:ext cx="10971886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792785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</a:t>
            </a:r>
            <a:endParaRPr lang="en-US" sz="1600" dirty="0"/>
          </a:p>
        </p:txBody>
      </p:sp>
      <p:sp>
        <p:nvSpPr>
          <p:cNvPr id="5" name="slides-field:Body"/>
          <p:cNvSpPr/>
          <p:nvPr/>
        </p:nvSpPr>
        <p:spPr>
          <a:xfrm>
            <a:off x="4907585" y="1783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1600" dirty="0"/>
          </a:p>
        </p:txBody>
      </p:sp>
      <p:sp>
        <p:nvSpPr>
          <p:cNvPr id="6" name="slides-field:Body"/>
          <p:cNvSpPr/>
          <p:nvPr/>
        </p:nvSpPr>
        <p:spPr>
          <a:xfrm>
            <a:off x="9388145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Cuándo</a:t>
            </a:r>
            <a:endParaRPr lang="en-US" sz="1600" dirty="0"/>
          </a:p>
        </p:txBody>
      </p:sp>
      <p:sp>
        <p:nvSpPr>
          <p:cNvPr id="7" name="slides-field:Body"/>
          <p:cNvSpPr/>
          <p:nvPr/>
        </p:nvSpPr>
        <p:spPr>
          <a:xfrm>
            <a:off x="792785" y="233172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Huella sha256 por fuente</a:t>
            </a:r>
            <a:endParaRPr lang="en-US" sz="1600" dirty="0"/>
          </a:p>
        </p:txBody>
      </p:sp>
      <p:sp>
        <p:nvSpPr>
          <p:cNvPr id="8" name="slides-field:Body"/>
          <p:cNvSpPr/>
          <p:nvPr/>
        </p:nvSpPr>
        <p:spPr>
          <a:xfrm>
            <a:off x="4907585" y="2331720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PRODUCTOS.xls 2dbbbf8b</a:t>
            </a:r>
            <a:endParaRPr lang="en-US" sz="1600" dirty="0"/>
          </a:p>
        </p:txBody>
      </p:sp>
      <p:sp>
        <p:nvSpPr>
          <p:cNvPr id="9" name="slides-field:Body"/>
          <p:cNvSpPr/>
          <p:nvPr/>
        </p:nvSpPr>
        <p:spPr>
          <a:xfrm>
            <a:off x="9388145" y="2331720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corrida</a:t>
            </a:r>
            <a:endParaRPr lang="en-US" sz="1600" dirty="0"/>
          </a:p>
        </p:txBody>
      </p:sp>
      <p:sp>
        <p:nvSpPr>
          <p:cNvPr id="10" name="slides-field:Body"/>
          <p:cNvSpPr/>
          <p:nvPr/>
        </p:nvSpPr>
        <p:spPr>
          <a:xfrm>
            <a:off x="792785" y="311810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Exclusiones con motivo</a:t>
            </a:r>
            <a:endParaRPr lang="en-US" sz="1600" dirty="0"/>
          </a:p>
        </p:txBody>
      </p:sp>
      <p:sp>
        <p:nvSpPr>
          <p:cNvPr id="11" name="slides-field:Body"/>
          <p:cNvSpPr/>
          <p:nvPr/>
        </p:nvSpPr>
        <p:spPr>
          <a:xfrm>
            <a:off x="4907585" y="3118104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6538 filas en línea de proceso</a:t>
            </a:r>
            <a:endParaRPr lang="en-US" sz="1600" dirty="0"/>
          </a:p>
        </p:txBody>
      </p:sp>
      <p:sp>
        <p:nvSpPr>
          <p:cNvPr id="12" name="slides-field:Body"/>
          <p:cNvSpPr/>
          <p:nvPr/>
        </p:nvSpPr>
        <p:spPr>
          <a:xfrm>
            <a:off x="9388145" y="311810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corrida</a:t>
            </a:r>
            <a:endParaRPr lang="en-US" sz="1600" dirty="0"/>
          </a:p>
        </p:txBody>
      </p:sp>
      <p:sp>
        <p:nvSpPr>
          <p:cNvPr id="13" name="deco-row-lead"/>
          <p:cNvSpPr/>
          <p:nvPr/>
        </p:nvSpPr>
        <p:spPr>
          <a:xfrm>
            <a:off x="609905" y="3904488"/>
            <a:ext cx="10971886" cy="786384"/>
          </a:xfrm>
          <a:prstGeom prst="roundRect">
            <a:avLst>
              <a:gd name="adj" fmla="val 1162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lides-field:Body"/>
          <p:cNvSpPr/>
          <p:nvPr/>
        </p:nvSpPr>
        <p:spPr>
          <a:xfrm>
            <a:off x="792785" y="3904488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Universo vs corrida anterior</a:t>
            </a:r>
            <a:endParaRPr lang="en-US" sz="1600" dirty="0"/>
          </a:p>
        </p:txBody>
      </p:sp>
      <p:sp>
        <p:nvSpPr>
          <p:cNvPr id="15" name="slides-field:Body"/>
          <p:cNvSpPr/>
          <p:nvPr/>
        </p:nvSpPr>
        <p:spPr>
          <a:xfrm>
            <a:off x="4907585" y="3904488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caída ≥15% frena la subida</a:t>
            </a:r>
            <a:endParaRPr lang="en-US" sz="1600" dirty="0"/>
          </a:p>
        </p:txBody>
      </p:sp>
      <p:sp>
        <p:nvSpPr>
          <p:cNvPr id="16" name="slides-field:Body"/>
          <p:cNvSpPr/>
          <p:nvPr/>
        </p:nvSpPr>
        <p:spPr>
          <a:xfrm>
            <a:off x="9388145" y="3904488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subir</a:t>
            </a:r>
            <a:endParaRPr lang="en-US" sz="1600" dirty="0"/>
          </a:p>
        </p:txBody>
      </p:sp>
      <p:sp>
        <p:nvSpPr>
          <p:cNvPr id="17" name="slides-field:Body"/>
          <p:cNvSpPr/>
          <p:nvPr/>
        </p:nvSpPr>
        <p:spPr>
          <a:xfrm>
            <a:off x="792785" y="4690872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del JSON anterior</a:t>
            </a:r>
            <a:endParaRPr lang="en-US" sz="1600" dirty="0"/>
          </a:p>
        </p:txBody>
      </p:sp>
      <p:sp>
        <p:nvSpPr>
          <p:cNvPr id="18" name="slides-field:Body"/>
          <p:cNvSpPr/>
          <p:nvPr/>
        </p:nvSpPr>
        <p:spPr>
          <a:xfrm>
            <a:off x="4907585" y="4690872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.bak con fecha por corrida</a:t>
            </a:r>
            <a:endParaRPr lang="en-US" sz="1600" dirty="0"/>
          </a:p>
        </p:txBody>
      </p:sp>
      <p:sp>
        <p:nvSpPr>
          <p:cNvPr id="19" name="slides-field:Body"/>
          <p:cNvSpPr/>
          <p:nvPr/>
        </p:nvSpPr>
        <p:spPr>
          <a:xfrm>
            <a:off x="9388145" y="4690872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corrida</a:t>
            </a:r>
            <a:endParaRPr lang="en-US" sz="1600" dirty="0"/>
          </a:p>
        </p:txBody>
      </p:sp>
      <p:sp>
        <p:nvSpPr>
          <p:cNvPr id="20" name="slides-field:Body"/>
          <p:cNvSpPr/>
          <p:nvPr/>
        </p:nvSpPr>
        <p:spPr>
          <a:xfrm>
            <a:off x="792785" y="5477256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Auditoría KARDEX vs ERP</a:t>
            </a:r>
            <a:endParaRPr lang="en-US" sz="1600" dirty="0"/>
          </a:p>
        </p:txBody>
      </p:sp>
      <p:sp>
        <p:nvSpPr>
          <p:cNvPr id="21" name="slides-field:Body"/>
          <p:cNvSpPr/>
          <p:nvPr/>
        </p:nvSpPr>
        <p:spPr>
          <a:xfrm>
            <a:off x="4907585" y="5477256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divergencias visibles</a:t>
            </a:r>
            <a:endParaRPr lang="en-US" sz="1600" dirty="0"/>
          </a:p>
        </p:txBody>
      </p:sp>
      <p:sp>
        <p:nvSpPr>
          <p:cNvPr id="22" name="slides-field:Body"/>
          <p:cNvSpPr/>
          <p:nvPr/>
        </p:nvSpPr>
        <p:spPr>
          <a:xfrm>
            <a:off x="9388145" y="5477256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 que sigue: medidas de caja y precios</a:t>
            </a:r>
            <a:endParaRPr lang="en-US" sz="4000" dirty="0"/>
          </a:p>
        </p:txBody>
      </p:sp>
      <p:sp>
        <p:nvSpPr>
          <p:cNvPr id="3" name="deco-timeline-rail"/>
          <p:cNvSpPr/>
          <p:nvPr/>
        </p:nvSpPr>
        <p:spPr>
          <a:xfrm>
            <a:off x="975665" y="3749040"/>
            <a:ext cx="10240366" cy="0"/>
          </a:xfrm>
          <a:prstGeom prst="line">
            <a:avLst/>
          </a:prstGeom>
          <a:noFill/>
          <a:ln w="254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4" name="deco-milestone-1"/>
          <p:cNvSpPr/>
          <p:nvPr/>
        </p:nvSpPr>
        <p:spPr>
          <a:xfrm>
            <a:off x="2231136" y="3648456"/>
            <a:ext cx="201168" cy="2011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lides-field:Body"/>
          <p:cNvSpPr/>
          <p:nvPr/>
        </p:nvSpPr>
        <p:spPr>
          <a:xfrm>
            <a:off x="6858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Hoy</a:t>
            </a:r>
            <a:endParaRPr lang="en-US" sz="2400" dirty="0"/>
          </a:p>
        </p:txBody>
      </p:sp>
      <p:sp>
        <p:nvSpPr>
          <p:cNvPr id="6" name="slides-field:Body"/>
          <p:cNvSpPr/>
          <p:nvPr/>
        </p:nvSpPr>
        <p:spPr>
          <a:xfrm>
            <a:off x="640080" y="4160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3553 SKUs en producción, 8 almacenes, subida verificada</a:t>
            </a:r>
            <a:endParaRPr lang="en-US" sz="1600" dirty="0"/>
          </a:p>
        </p:txBody>
      </p:sp>
      <p:sp>
        <p:nvSpPr>
          <p:cNvPr id="7" name="deco-milestone-2"/>
          <p:cNvSpPr/>
          <p:nvPr/>
        </p:nvSpPr>
        <p:spPr>
          <a:xfrm>
            <a:off x="5940857" y="3593592"/>
            <a:ext cx="310896" cy="31089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lides-field:Body"/>
          <p:cNvSpPr/>
          <p:nvPr/>
        </p:nvSpPr>
        <p:spPr>
          <a:xfrm>
            <a:off x="4450385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Medidas de caja</a:t>
            </a:r>
            <a:endParaRPr lang="en-US" sz="2400" dirty="0"/>
          </a:p>
        </p:txBody>
      </p:sp>
      <p:sp>
        <p:nvSpPr>
          <p:cNvPr id="9" name="slides-field:Body"/>
          <p:cNvSpPr/>
          <p:nvPr/>
        </p:nvSpPr>
        <p:spPr>
          <a:xfrm>
            <a:off x="4404665" y="4160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Cargar LARGO × ANCHO × ALTO en SKU_BX: el generador ya calcula m³</a:t>
            </a:r>
            <a:endParaRPr lang="en-US" sz="1600" dirty="0"/>
          </a:p>
        </p:txBody>
      </p:sp>
      <p:sp>
        <p:nvSpPr>
          <p:cNvPr id="10" name="deco-milestone-3"/>
          <p:cNvSpPr/>
          <p:nvPr/>
        </p:nvSpPr>
        <p:spPr>
          <a:xfrm>
            <a:off x="9729216" y="3648456"/>
            <a:ext cx="201168" cy="20116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lides-field:Body"/>
          <p:cNvSpPr/>
          <p:nvPr/>
        </p:nvSpPr>
        <p:spPr>
          <a:xfrm>
            <a:off x="818388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Precios</a:t>
            </a:r>
            <a:endParaRPr lang="en-US" sz="2400" dirty="0"/>
          </a:p>
        </p:txBody>
      </p:sp>
      <p:sp>
        <p:nvSpPr>
          <p:cNvPr id="12" name="slides-field:Body"/>
          <p:cNvSpPr/>
          <p:nvPr/>
        </p:nvSpPr>
        <p:spPr>
          <a:xfrm>
            <a:off x="8138160" y="4160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plantilla_precios.xlsx entra con descuentos y precios fijos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tatem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rule-accent"/>
          <p:cNvSpPr/>
          <p:nvPr/>
        </p:nvSpPr>
        <p:spPr>
          <a:xfrm>
            <a:off x="609905" y="2240280"/>
            <a:ext cx="1554480" cy="0"/>
          </a:xfrm>
          <a:prstGeom prst="line">
            <a:avLst/>
          </a:prstGeom>
          <a:noFill/>
          <a:ln w="38100">
            <a:solidFill>
              <a:srgbClr val="F8FAFC"/>
            </a:solidFill>
            <a:prstDash val="solid"/>
          </a:ln>
        </p:spPr>
      </p:sp>
      <p:sp>
        <p:nvSpPr>
          <p:cNvPr id="3" name="slides-lead:Statement"/>
          <p:cNvSpPr/>
          <p:nvPr/>
        </p:nvSpPr>
        <p:spPr>
          <a:xfrm>
            <a:off x="609905" y="246888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Una fuente, cinco puertas: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 que cambia, se frena antes de publicar.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2026-10-25T03:29:14Z</dcterms:created>
  <dcterms:modified xsi:type="dcterms:W3CDTF">2026-10-25T03:29:14Z</dcterms:modified>
  <dc:description>slides-spec: catalogo.deck.md sha256:532777accb55a23875aab254feaac3c175691f44f49a796b50d8292e9843afbd</dc:description>
</cp:coreProperties>
</file>